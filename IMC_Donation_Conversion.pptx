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4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E35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0E1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INTERN CHALLENGE  ·  INTERNATIONAL MEDICAL CORPS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intent into gifts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online donation conversion — with minimal lift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challenge.  </a:t>
            </a:r>
            <a:r>
              <a:rPr lang="en-US" sz="15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Medical Corps funds emergency medical response in Gaza, Sudan and Ukraine largely through individual online gifts. But its donation form loses motivated donors at the point of decision — and because roughly three in four new online donors never give again, every first gift that slips away is lifesaving care not delivered.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915400" y="416052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1E3559"/>
          </a:solidFill>
          <a:ln/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915400" y="4370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6A0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≈24%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098280" y="51937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online donors ever give a second time*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M+R Benchmarks 2026 — sector average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·  ROOT CAUSES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found: three points of friction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walked IMC UK’s live donation pathway (built on Donorbox). Three fixable gaps stand out — each one bleeds conversions.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32688" y="2459736"/>
            <a:ext cx="841248" cy="841248"/>
          </a:xfrm>
          <a:prstGeom prst="ellipse">
            <a:avLst/>
          </a:prstGeom>
          <a:solidFill>
            <a:srgbClr val="1325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700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24231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41832" y="34747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friction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41832" y="4023360"/>
            <a:ext cx="3008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surfaces only Google Pay and card. No Apple Pay or PayPal appears, and a US “ZIP Code” label sits on a GBP form. Most donors must stop and hand-type their card.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35424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828032" y="2459736"/>
            <a:ext cx="841248" cy="841248"/>
          </a:xfrm>
          <a:prstGeom prst="ellipse">
            <a:avLst/>
          </a:prstGeom>
          <a:solidFill>
            <a:srgbClr val="1325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6700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24231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837176" y="34747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bare, low-value ask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837176" y="4023360"/>
            <a:ext cx="3008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amounts (£5–£200) are plain numbers with no reason to pick one. There is no tangible impact, and IMC’s powerful “£1 unlocks £30” leverage never appears on the form.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430768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723376" y="2459736"/>
            <a:ext cx="841248" cy="841248"/>
          </a:xfrm>
          <a:prstGeom prst="ellipse">
            <a:avLst/>
          </a:prstGeom>
          <a:solidFill>
            <a:srgbClr val="1325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6700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082528" y="24231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732520" y="34747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One-and-done by default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8732520" y="4023360"/>
            <a:ext cx="3008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is the default; monthly giving lives on a separate page. IMC leaves its single highest-value donor type — recurring supporters — off the main path.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low-effort, high-impact fixes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achievable inside the existing form — copy and configuration changes, not a rebuild.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132542"/>
          </a:solidFill>
          <a:ln/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32688" y="2459736"/>
            <a:ext cx="841248" cy="841248"/>
          </a:xfrm>
          <a:prstGeom prst="ellipse">
            <a:avLst/>
          </a:prstGeom>
          <a:solidFill>
            <a:srgbClr val="E6A0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700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328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E35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41832" y="34747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Broaden &amp; localise payments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41832" y="4297680"/>
            <a:ext cx="3044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Apple Pay, add PayPal, and offer Direct Debit for monthly gifts — then fix the “ZIP” label to “postcode.”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1832" y="555955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41832" y="5559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· Checkout UX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35424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132542"/>
          </a:solidFill>
          <a:ln/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828032" y="2459736"/>
            <a:ext cx="841248" cy="841248"/>
          </a:xfrm>
          <a:prstGeom prst="ellipse">
            <a:avLst/>
          </a:prstGeom>
          <a:solidFill>
            <a:srgbClr val="E6A0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67004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78624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E35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837176" y="34747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Make the ask tangible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4837176" y="4297680"/>
            <a:ext cx="3044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preset with representative impact (“£30 can help treat a child”) beside a real field photo and spell out how £1 becomes £30.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37176" y="555955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4837176" y="5559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· Messaging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430768" y="21488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132542"/>
          </a:solidFill>
          <a:ln/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8723376" y="2459736"/>
            <a:ext cx="841248" cy="841248"/>
          </a:xfrm>
          <a:prstGeom prst="ellipse">
            <a:avLst/>
          </a:prstGeom>
          <a:solidFill>
            <a:srgbClr val="E6A02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6700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173968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E35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8732520" y="34747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Nudge one-time → monthly</a:t>
            </a:r>
            <a:endParaRPr lang="en-US" sz="1850" dirty="0"/>
          </a:p>
        </p:txBody>
      </p:sp>
      <p:sp>
        <p:nvSpPr>
          <p:cNvPr id="26" name="Text 21"/>
          <p:cNvSpPr/>
          <p:nvPr/>
        </p:nvSpPr>
        <p:spPr>
          <a:xfrm>
            <a:off x="8732520" y="4297680"/>
            <a:ext cx="3044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monthly option real prominence and add a single “make this monthly” prompt at the amount or confirmation step.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732520" y="555955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8732520" y="5559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· Lifetime value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6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&amp; 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Realistic to ship — and backed by evidence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3F6FC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32688" y="2075688"/>
            <a:ext cx="603504" cy="603504"/>
          </a:xfrm>
          <a:prstGeom prst="ellipse">
            <a:avLst/>
          </a:prstGeom>
          <a:solidFill>
            <a:srgbClr val="2C8C8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Feasibility — minimal lift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175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293522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  </a:t>
            </a: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processor configuration in Donorbox + a one-word copy fix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04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9888" y="37581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ask.  </a:t>
            </a: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copy change on the form the donor already sees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6344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89888" y="458114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nudge.  </a:t>
            </a:r>
            <a:r>
              <a:rPr lang="en-US" sz="1300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form-setting toggle, already supported by the platform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1005840" y="5458968"/>
            <a:ext cx="434340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9"/>
          <p:cNvSpPr/>
          <p:nvPr/>
        </p:nvSpPr>
        <p:spPr>
          <a:xfrm>
            <a:off x="1005840" y="558698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E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developers, no rebuild — and every change is A/B testable before full rollout.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007608" y="1801368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B2B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— what the evidence says</a:t>
            </a:r>
            <a:endParaRPr lang="en-US" sz="1850" dirty="0"/>
          </a:p>
        </p:txBody>
      </p:sp>
      <p:sp>
        <p:nvSpPr>
          <p:cNvPr id="17" name="Shape 11"/>
          <p:cNvSpPr/>
          <p:nvPr/>
        </p:nvSpPr>
        <p:spPr>
          <a:xfrm>
            <a:off x="5989320" y="2350008"/>
            <a:ext cx="555955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217920" y="2386584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A0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+39.4%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8686800" y="2386584"/>
            <a:ext cx="2679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 achievable from streamlined, low-friction forms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NextAfter · 6,000+ experiments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989320" y="3520440"/>
            <a:ext cx="555955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6217920" y="3557016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A0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71% vs 24%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8686800" y="3557016"/>
            <a:ext cx="2679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retention — monthly vs one-time online donors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M+R Benchmarks 2026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989320" y="4690872"/>
            <a:ext cx="555955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88900" dist="38100" dir="5400000" algn="bl" rotWithShape="0">
              <a:srgbClr val="0B173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217920" y="4727448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A0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≈5.4×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8686800" y="4727448"/>
            <a:ext cx="2679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of a monthly donor over a one-time donor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M+R / Blackbaud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989320" y="5879592"/>
            <a:ext cx="5559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1E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proven: </a:t>
            </a:r>
            <a:r>
              <a:rPr lang="en-US" sz="1200" i="1" dirty="0">
                <a:solidFill>
                  <a:srgbClr val="3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matched gift with a credible, named matcher lifts both response rate and revenue per gift (Karlan &amp; List, 2007), and single, identifiable asks outperform statistics (identifiable victim effect).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555</Words>
  <Application>Microsoft Office PowerPoint</Application>
  <PresentationFormat>Widescreen</PresentationFormat>
  <Paragraphs>56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IMC – Increasing Online Donation Conversion</dc:title>
  <dc:subject>PptxGenJS Presentation</dc:subject>
  <dc:creator>Global Intern Challenge</dc:creator>
  <cp:lastModifiedBy>Bakic, Nicholas</cp:lastModifiedBy>
  <cp:revision>2</cp:revision>
  <dcterms:created xsi:type="dcterms:W3CDTF">2026-07-04T19:52:37Z</dcterms:created>
  <dcterms:modified xsi:type="dcterms:W3CDTF">2026-07-04T19:56:07Z</dcterms:modified>
</cp:coreProperties>
</file>